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77A"/>
          </a:solidFill>
          <a:ln>
            <a:solidFill>
              <a:srgbClr val="3B2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CLAIM STATUS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E4FA"/>
                </a:solidFill>
                <a:latin typeface="Arial"/>
              </a:rPr>
              <a:t>Технический кейс Product Masters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Sinoasia B&amp;R / BCC Insurance
КАСКО / страховой случай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D4EB"/>
                </a:solidFill>
                <a:latin typeface="Arial"/>
              </a:rPr>
              <a:t>Karimov Muhamedzhan • 20.09.2026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B277A"/>
                </a:solidFill>
                <a:latin typeface="Arial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472"/>
                </a:solidFill>
                <a:latin typeface="Arial"/>
              </a:rPr>
              <a:t>После подачи заявления клиенту не всегда понятно, что происходит дальше.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07492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E7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8F5A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91639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181D"/>
                </a:solidFill>
                <a:latin typeface="Arial"/>
              </a:rPr>
              <a:t>Что уже принято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07492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E7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91639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8F5A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59" y="1691639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181D"/>
                </a:solidFill>
                <a:latin typeface="Arial"/>
              </a:rPr>
              <a:t>Каких документов не хватает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74720"/>
            <a:ext cx="507492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E7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8F5A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65760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181D"/>
                </a:solidFill>
                <a:latin typeface="Arial"/>
              </a:rPr>
              <a:t>На каком этапе находится дело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474720"/>
            <a:ext cx="5074920" cy="1417320"/>
          </a:xfrm>
          <a:prstGeom prst="roundRect">
            <a:avLst/>
          </a:prstGeom>
          <a:solidFill>
            <a:srgbClr val="F6F7F9"/>
          </a:solidFill>
          <a:ln>
            <a:solidFill>
              <a:srgbClr val="E7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65760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8F5A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365760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181D"/>
                </a:solidFill>
                <a:latin typeface="Arial"/>
              </a:rPr>
              <a:t>Какой следующий шаг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277A"/>
                </a:solidFill>
                <a:latin typeface="Arial"/>
              </a:rPr>
              <a:t>Выбран один узкий сценарий, а не автоматизация всего урегулирования.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B277A"/>
                </a:solidFill>
                <a:latin typeface="Arial"/>
              </a:rPr>
              <a:t>Что подтверждает боль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472"/>
                </a:solidFill>
                <a:latin typeface="Arial"/>
              </a:rPr>
              <a:t>Отзывы — сигнал, а не статистика всей клиентской базы.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25603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D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830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277A"/>
                </a:solidFill>
                <a:latin typeface="Arial"/>
              </a:rPr>
              <a:t>Обратная связь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46888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В публичных отзывах встречаются сложности с дозвоном и получением ответа.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554480"/>
            <a:ext cx="25603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D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8456" y="17830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277A"/>
                </a:solidFill>
                <a:latin typeface="Arial"/>
              </a:rPr>
              <a:t>Процесс после ДТП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8456" y="246888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Клиенту нужен понятный статус и следующий шаг.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554480"/>
            <a:ext cx="25603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D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1384" y="17830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277A"/>
                </a:solidFill>
                <a:latin typeface="Arial"/>
              </a:rPr>
              <a:t>Документы и оценка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46888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Непрозрачность усиливает конфликт вокруг решения.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53144" y="1554480"/>
            <a:ext cx="25603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D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54312" y="17830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277A"/>
                </a:solidFill>
                <a:latin typeface="Arial"/>
              </a:rPr>
              <a:t>Контрсигнал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54312" y="246888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Есть и положительные отзывы — картина неоднородна.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321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Arial"/>
              </a:rPr>
              <a:t>Исследования claims-experience также связывают задержки, сложность процесса и слабую коммуникацию с ухудшением клиентского опыта.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B277A"/>
                </a:solidFill>
                <a:latin typeface="Arial"/>
              </a:rPr>
              <a:t>Узкое место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472"/>
                </a:solidFill>
                <a:latin typeface="Arial"/>
              </a:rPr>
              <a:t>Проверка комплектности и коммуникация после регистрации.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057400"/>
            <a:ext cx="1828800" cy="1051560"/>
          </a:xfrm>
          <a:prstGeom prst="roundRect">
            <a:avLst/>
          </a:prstGeom>
          <a:solidFill>
            <a:srgbClr val="F6F7F9"/>
          </a:solidFill>
          <a:ln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0428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181D"/>
                </a:solidFill>
                <a:latin typeface="Arial"/>
              </a:rPr>
              <a:t>Страховой
случай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34086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B6472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62072" y="2057400"/>
            <a:ext cx="1828800" cy="1051560"/>
          </a:xfrm>
          <a:prstGeom prst="roundRect">
            <a:avLst/>
          </a:prstGeom>
          <a:solidFill>
            <a:srgbClr val="F6F7F9"/>
          </a:solidFill>
          <a:ln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53512" y="230428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181D"/>
                </a:solidFill>
                <a:latin typeface="Arial"/>
              </a:rPr>
              <a:t>Регистрация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34086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B6472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9784" y="2057400"/>
            <a:ext cx="1828800" cy="1051560"/>
          </a:xfrm>
          <a:prstGeom prst="roundRect">
            <a:avLst/>
          </a:prstGeom>
          <a:solidFill>
            <a:srgbClr val="EDE9FE"/>
          </a:solidFill>
          <a:ln>
            <a:solidFill>
              <a:srgbClr val="3B2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230428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B277A"/>
                </a:solidFill>
                <a:latin typeface="Arial"/>
              </a:rPr>
              <a:t>Проверка
комплекта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8584" y="234086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B6472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7496" y="2057400"/>
            <a:ext cx="1828800" cy="1051560"/>
          </a:xfrm>
          <a:prstGeom prst="roundRect">
            <a:avLst/>
          </a:prstGeom>
          <a:solidFill>
            <a:srgbClr val="F6F7F9"/>
          </a:solidFill>
          <a:ln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88936" y="230428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181D"/>
                </a:solidFill>
                <a:latin typeface="Arial"/>
              </a:rPr>
              <a:t>Оценка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6296" y="234086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B6472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65208" y="2057400"/>
            <a:ext cx="1828800" cy="1051560"/>
          </a:xfrm>
          <a:prstGeom prst="roundRect">
            <a:avLst/>
          </a:prstGeom>
          <a:solidFill>
            <a:srgbClr val="F6F7F9"/>
          </a:solidFill>
          <a:ln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56648" y="230428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181D"/>
                </a:solidFill>
                <a:latin typeface="Arial"/>
              </a:rPr>
              <a:t>Решение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3794760"/>
            <a:ext cx="5074920" cy="1234440"/>
          </a:xfrm>
          <a:prstGeom prst="roundRect">
            <a:avLst/>
          </a:prstGeom>
          <a:solidFill>
            <a:srgbClr val="FFF7ED"/>
          </a:solidFill>
          <a:ln>
            <a:solidFill>
              <a:srgbClr val="F6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4041648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D97706"/>
                </a:solidFill>
                <a:latin typeface="Arial"/>
              </a:rPr>
              <a:t>Здесь чаще всего нужен повторный контакт:
«что не хватает и что дальше?»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B277A"/>
                </a:solidFill>
                <a:latin typeface="Arial"/>
              </a:rPr>
              <a:t>MVP: один понятный статус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472"/>
                </a:solidFill>
                <a:latin typeface="Arial"/>
              </a:rPr>
              <a:t>ИИ помогает подготовить информацию, но сотрудник остаётся в контуре.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D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647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277A"/>
                </a:solidFill>
                <a:latin typeface="Arial"/>
              </a:rPr>
              <a:t>Клиент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• статус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• этапы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• недостающие документы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51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• следующий шаг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D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647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277A"/>
                </a:solidFill>
                <a:latin typeface="Arial"/>
              </a:rPr>
              <a:t>Сотрудник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• очередь заявлений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• комплектность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657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• проблемные позиции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251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• подтверждение ответа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50876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DD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7647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277A"/>
                </a:solidFill>
                <a:latin typeface="Arial"/>
              </a:rPr>
              <a:t>Эксперимент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• primary 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063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• secondary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657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•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251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• stop criteria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Arial"/>
              </a:rPr>
              <a:t>Figma: https://www.figma.com/design/eRYcFzUO9slgs4KrHdICbE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B277A"/>
                </a:solidFill>
                <a:latin typeface="Arial"/>
              </a:rPr>
              <a:t>Экономика: порядок величины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472"/>
                </a:solidFill>
                <a:latin typeface="Arial"/>
              </a:rPr>
              <a:t>Все внутренние цифры ниже — прозрачные допущения модели.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2606040" cy="1508760"/>
          </a:xfrm>
          <a:prstGeom prst="roundRect">
            <a:avLst/>
          </a:prstGeom>
          <a:solidFill>
            <a:srgbClr val="F6F7F9"/>
          </a:solidFill>
          <a:ln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B277A"/>
                </a:solidFill>
                <a:latin typeface="Arial"/>
              </a:rPr>
              <a:t>625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5915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472"/>
                </a:solidFill>
                <a:latin typeface="Arial"/>
              </a:rPr>
              <a:t>случаев / мес.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08760"/>
            <a:ext cx="2606040" cy="1508760"/>
          </a:xfrm>
          <a:prstGeom prst="roundRect">
            <a:avLst/>
          </a:prstGeom>
          <a:solidFill>
            <a:srgbClr val="F6F7F9"/>
          </a:solidFill>
          <a:ln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B277A"/>
                </a:solidFill>
                <a:latin typeface="Arial"/>
              </a:rPr>
              <a:t>894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5915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472"/>
                </a:solidFill>
                <a:latin typeface="Arial"/>
              </a:rPr>
              <a:t>повторных контактов / мес.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2606040" cy="1508760"/>
          </a:xfrm>
          <a:prstGeom prst="roundRect">
            <a:avLst/>
          </a:prstGeom>
          <a:solidFill>
            <a:srgbClr val="F6F7F9"/>
          </a:solidFill>
          <a:ln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B277A"/>
                </a:solidFill>
                <a:latin typeface="Arial"/>
              </a:rPr>
              <a:t>625 625 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5915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472"/>
                </a:solidFill>
                <a:latin typeface="Arial"/>
              </a:rPr>
              <a:t>стоимость повторных контактов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508760"/>
            <a:ext cx="2606040" cy="1508760"/>
          </a:xfrm>
          <a:prstGeom prst="roundRect">
            <a:avLst/>
          </a:prstGeom>
          <a:solidFill>
            <a:srgbClr val="F6F7F9"/>
          </a:solidFill>
          <a:ln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17830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B277A"/>
                </a:solidFill>
                <a:latin typeface="Arial"/>
              </a:rPr>
              <a:t>1 360 625 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235915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472"/>
                </a:solidFill>
                <a:latin typeface="Arial"/>
              </a:rPr>
              <a:t>общая зона возможности / мес.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57600"/>
            <a:ext cx="5349240" cy="1554480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31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B277A"/>
                </a:solidFill>
                <a:latin typeface="Arial"/>
              </a:rPr>
              <a:t>MVP: ≈ 760 000 ₸ • ≈ 1 неделя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80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81D"/>
                </a:solidFill>
                <a:latin typeface="Arial"/>
              </a:rPr>
              <a:t>Сначала проверяем ценность дешёво.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657600"/>
            <a:ext cx="5349240" cy="1554480"/>
          </a:xfrm>
          <a:prstGeom prst="roundRect">
            <a:avLst/>
          </a:prstGeom>
          <a:solidFill>
            <a:srgbClr val="F6F7F9"/>
          </a:solidFill>
          <a:ln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931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6181D"/>
                </a:solidFill>
                <a:latin typeface="Arial"/>
              </a:rPr>
              <a:t>Интеграция: ≈ 12 млн ₸ • ≈ 2 месяца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480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Arial"/>
              </a:rPr>
              <a:t>Только если MVP подтвердит эффект.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B277A"/>
                </a:solidFill>
                <a:latin typeface="Arial"/>
              </a:rPr>
              <a:t>A/B-тест на 2 недели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472"/>
                </a:solidFill>
                <a:latin typeface="Arial"/>
              </a:rPr>
              <a:t>Проверяем поведение, а не клики по интерфейсу.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57800" cy="1600200"/>
          </a:xfrm>
          <a:prstGeom prst="roundRect">
            <a:avLst/>
          </a:prstGeom>
          <a:solidFill>
            <a:srgbClr val="F6F7F9"/>
          </a:solidFill>
          <a:ln>
            <a:solidFill>
              <a:srgbClr val="E1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6472"/>
                </a:solidFill>
                <a:latin typeface="Arial"/>
              </a:rPr>
              <a:t>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181D"/>
                </a:solidFill>
                <a:latin typeface="Arial"/>
              </a:rPr>
              <a:t>Текущий процесс и текущие каналы уточнения статуса.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257800" cy="1600200"/>
          </a:xfrm>
          <a:prstGeom prst="roundRect">
            <a:avLst/>
          </a:prstGeom>
          <a:solidFill>
            <a:srgbClr val="EDE9FE"/>
          </a:solidFill>
          <a:ln>
            <a:solidFill>
              <a:srgbClr val="3B2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277A"/>
                </a:solidFill>
                <a:latin typeface="Arial"/>
              </a:rPr>
              <a:t>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277A"/>
                </a:solidFill>
                <a:latin typeface="Arial"/>
              </a:rPr>
              <a:t>Статус + чек-лист + подтверждённый сотрудником ответ.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8F5A"/>
                </a:solidFill>
                <a:latin typeface="Arial"/>
              </a:rPr>
              <a:t>Primary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181D"/>
                </a:solidFill>
                <a:latin typeface="Arial"/>
              </a:rPr>
              <a:t>Повторные контакты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7365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277A"/>
                </a:solidFill>
                <a:latin typeface="Arial"/>
              </a:rPr>
              <a:t>−20%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6576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8F5A"/>
                </a:solidFill>
                <a:latin typeface="Arial"/>
              </a:rPr>
              <a:t>Secondary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181D"/>
                </a:solidFill>
                <a:latin typeface="Arial"/>
              </a:rPr>
              <a:t>Время до полного пакета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47365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277A"/>
                </a:solidFill>
                <a:latin typeface="Arial"/>
              </a:rPr>
              <a:t>−15%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576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8F5A"/>
                </a:solidFill>
                <a:latin typeface="Arial"/>
              </a:rPr>
              <a:t>Guardrail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181D"/>
                </a:solidFill>
                <a:latin typeface="Arial"/>
              </a:rPr>
              <a:t>Неверный статус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47365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277A"/>
                </a:solidFill>
                <a:latin typeface="Arial"/>
              </a:rPr>
              <a:t>≤2%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36576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1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8F5A"/>
                </a:solidFill>
                <a:latin typeface="Arial"/>
              </a:rPr>
              <a:t>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1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181D"/>
                </a:solidFill>
                <a:latin typeface="Arial"/>
              </a:rPr>
              <a:t>Жалобы vs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1" y="47365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277A"/>
                </a:solidFill>
                <a:latin typeface="Arial"/>
              </a:rPr>
              <a:t>не +10%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B277A"/>
                </a:solidFill>
                <a:latin typeface="Arial"/>
              </a:rPr>
              <a:t>Решение по результату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472"/>
                </a:solidFill>
                <a:latin typeface="Arial"/>
              </a:rPr>
              <a:t>Не строить тяжёлую интеграцию до доказанного эффекта.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10835640" cy="1508760"/>
          </a:xfrm>
          <a:prstGeom prst="roundRect">
            <a:avLst/>
          </a:prstGeom>
          <a:solidFill>
            <a:srgbClr val="3B277A"/>
          </a:solidFill>
          <a:ln>
            <a:solidFill>
              <a:srgbClr val="3B2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Если MVP снижает повторные контакты без роста жалоб — переходить к интеграции с АИС/CRM.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B277A"/>
                </a:solidFill>
                <a:latin typeface="Arial"/>
              </a:rPr>
              <a:t>Что не автоматизируем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6181D"/>
                </a:solidFill>
                <a:latin typeface="Arial"/>
              </a:rPr>
              <a:t>Решение о выплате/отказе • оценку ущерба • обещание даты выплаты • отправку AI-текста без проверки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472"/>
                </a:solidFill>
                <a:latin typeface="Arial"/>
              </a:rPr>
              <a:t>https://github.com/memodlike/claim-status-assistant-technical-case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